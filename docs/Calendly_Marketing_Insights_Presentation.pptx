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704329-d791-2f10-ec62-0a5f13656f94}">
          <p14:sldIdLst>
            <p14:sldId id="256"/>
            <p14:sldId id="257"/>
          </p14:sldIdLst>
        </p14:section>
        <p14:section name="Design" id="{2da9a3aa-3cfb-046e-be3e-6c80dc6d38de}">
          <p14:sldIdLst>
            <p14:sldId id="258"/>
            <p14:sldId id="259"/>
            <p14:sldId id="260"/>
          </p14:sldIdLst>
        </p14:section>
        <p14:section name="Results" id="{0c28ef59-36f6-5780-fd37-a3a69c09ea27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5E6F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E5E6F"/>
                </a:solidFill>
                <a:latin typeface="+mn-lt"/>
              </a:rPr>
              <a:t>Spend by channel, USD, 63 days to 30 October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0E5E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YouTube</c:v>
                  </c:pt>
                  <c:pt idx="1">
                    <c:v>Facebook</c:v>
                  </c:pt>
                  <c:pt idx="2">
                    <c:v>TikTok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40434.58</c:v>
                </c:pt>
                <c:pt idx="1">
                  <c:v>37758.42</c:v>
                </c:pt>
                <c:pt idx="2">
                  <c:v>24864.86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Calendly Marketing Insights, Data Engineering Project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Calendly Marketing Insights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Booking events joined with marketing spend on Delta Lake, Azure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Data Engineering Project 6 · Krishna C. Mukherjee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each booked call costs, by channel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Calendly webhooks for three paid campaigns (Facebook, YouTube, TikTok)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Daily spend file per channel, published Day-1 at 06:00 AM Eastern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Pipeline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Lambda architecture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Delta Lake, Bronze / Silver / Gold on ADLS Gen2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Azure Databricks, hourly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Outputs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Six metrics on a Streamlit dashboard: calls by source, cost per booking, trend, attribution, time slots, meeting load per employee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on Azure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9FB8C4"/>
          </a:solidFill>
          <a:ln w="12700">
            <a:solidFill>
              <a:srgbClr val="9FB8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Calendly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webhook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9FB8C4"/>
          </a:solidFill>
          <a:ln w="12700">
            <a:solidFill>
              <a:srgbClr val="9FB8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Spend files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(public S3)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764792"/>
            <a:ext cx="365760" cy="22860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410712"/>
            <a:ext cx="365760" cy="22860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630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fn_calendly_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receiver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1089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fn_spend_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fetcher (timer)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764792"/>
            <a:ext cx="365760" cy="22860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3410712"/>
            <a:ext cx="365760" cy="22860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6304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3BA99C"/>
          </a:solidFill>
          <a:ln w="12700">
            <a:solidFill>
              <a:srgbClr val="3BA99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463040"/>
            <a:ext cx="1280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landing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(ADLS Gen2)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587752"/>
            <a:ext cx="365760" cy="22860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630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463040"/>
            <a:ext cx="2103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Databricks job, hourly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Bronze → Silver → Gold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(Delta, Unity Catalog)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651760"/>
            <a:ext cx="27432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1089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9FB8C4"/>
          </a:solidFill>
          <a:ln w="12700">
            <a:solidFill>
              <a:srgbClr val="9FB8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Streamlit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6"/>
                </a:solidFill>
              </a:rPr>
              <a:t>(Gold CSV export)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Speed layer: webhook to Bronze in seconds, Silver within the hour.  Batch layer: spend landed after 06:00 AM Eastern, Gold rebuilt hourly.  Serving layer: Gold tables.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Delta layers, rebuilt in full every hour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Bronze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Raw JSON as landed: calendly_events, spend_files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Retained permanently; spend files leave the public index after 30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Silver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bookings, meetings, spend, channel_map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Latest delivery wins; cancellations applied; channel from event type; Eastern time; no personal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Six metric tables plus pipeline_runs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CPB null when no bookings; reconciliation check fails the run on mismatch; CSV export for the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this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80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Azure Functions.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Serverless HTTPS endpoint and timer in one project; scales to zero; managed identity, no keys in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4708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ADLS Gen2 + Delta Lake.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ACID writes, native Databricks format; required Bronze/Silver/Gold layering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Azure Databricks.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Direct equivalent of the brief's reference design; Workflows for schedule, retries, alerts; new tool for this portfolio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8094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Full rebuild per run.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minutes at this volume; idempotent; a reload is a rerun; no checkpoints or MERGE logic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478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Key Vault, App Insights, Monitor.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Signing key outside code; traces per request; alert on 5xx; e-mail on failed job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GitHub Actions, Streamlit.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Required by the brief; green build deploys function, notebooks, and job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Live traffic, validated 31 October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119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events landed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the first 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campaign bookings;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CPB $4,720 FB, $8,288 TikTok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$103K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spend loaded, 63 days,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manual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9 / 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green deployments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via GitHub Actions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291840"/>
          <a:ext cx="80467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Operations and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Scheduling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Spend fetch every 30 minutes, 06:15 to 12:45 Eastern; Databricks job hourly with two retries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Application Insights traces; Azure Monitor alert on HTTP 5xx; e-mail on any failed job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Function key plus Calendly HMAC signature; managed identity to storage; Key Vault for the signing key; personal data stays in Bronze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CI/CD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ruff and pytest (46 tests) on every push; green build deploys the Function App, notebooks, and job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Validation complete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Subscription active 30 October; signing key received and verification enabled 31 October; signed deliveries accepted; live bookings on the dashboard within the hour; CPB by channel computed. Report: docs/final_report.md.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endly Insights">
  <a:themeElements>
    <a:clrScheme name="Calendly Insights">
      <a:dk1>
        <a:srgbClr val="1B2A36"/>
      </a:dk1>
      <a:lt1>
        <a:srgbClr val="FFFFFF"/>
      </a:lt1>
      <a:dk2>
        <a:srgbClr val="0E5E6F"/>
      </a:dk2>
      <a:lt2>
        <a:srgbClr val="EAF3F4"/>
      </a:lt2>
      <a:accent1>
        <a:srgbClr val="0E5E6F"/>
      </a:accent1>
      <a:accent2>
        <a:srgbClr val="F28C28"/>
      </a:accent2>
      <a:accent3>
        <a:srgbClr val="3BA99C"/>
      </a:accent3>
      <a:accent4>
        <a:srgbClr val="6C7A89"/>
      </a:accent4>
      <a:accent5>
        <a:srgbClr val="B85042"/>
      </a:accent5>
      <a:accent6>
        <a:srgbClr val="9FB8C4"/>
      </a:accent6>
      <a:hlink>
        <a:srgbClr val="0E5E6F"/>
      </a:hlink>
      <a:folHlink>
        <a:srgbClr val="6C7A89"/>
      </a:folHlink>
    </a:clrScheme>
    <a:fontScheme name="Calendly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Calendly Marketing Insights</dc:title>
  <dc:subject>PptxGenJS Presentation</dc:subject>
  <dc:creator>Krishna C. Mukherjee</dc:creator>
  <cp:lastModifiedBy>Krishna C. Mukherjee</cp:lastModifiedBy>
  <cp:revision>1</cp:revision>
  <dcterms:created xsi:type="dcterms:W3CDTF">2026-10-31T18:56:20Z</dcterms:created>
  <dcterms:modified xsi:type="dcterms:W3CDTF">2026-10-31T18:56:20Z</dcterms:modified>
</cp:coreProperties>
</file>