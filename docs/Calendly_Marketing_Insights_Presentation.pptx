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verview" id="{b1579216-1860-8c7e-eb1f-cdbf002af5b9}">
          <p14:sldIdLst>
            <p14:sldId id="256"/>
            <p14:sldId id="257"/>
          </p14:sldIdLst>
        </p14:section>
        <p14:section name="Design" id="{2568100c-5383-d5ff-d78f-ff6df3ae5d66}">
          <p14:sldIdLst>
            <p14:sldId id="258"/>
            <p14:sldId id="259"/>
            <p14:sldId id="260"/>
          </p14:sldIdLst>
        </p14:section>
        <p14:section name="Results" id="{d94997b7-7cff-71c2-faf4-be27ef134f60}">
          <p14:sldIdLst>
            <p14:sldId id="261"/>
            <p14:sldId id="262"/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0E5E6F"/>
                </a:solidFill>
                <a:latin typeface="+mn-lt"/>
              </a:defRPr>
            </a:pPr>
            <a:r>
              <a:rPr sz="1100" b="0" i="0" u="none" strike="noStrike">
                <a:solidFill>
                  <a:srgbClr val="0E5E6F"/>
                </a:solidFill>
                <a:latin typeface="+mn-lt"/>
              </a:rPr>
              <a:t>Spend by channel, USD, 60 days to 27 October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Spend</c:v>
                </c:pt>
              </c:strCache>
            </c:strRef>
          </c:tx>
          <c:spPr>
            <a:solidFill>
              <a:srgbClr val="0E5E6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B2A36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YouTube</c:v>
                  </c:pt>
                  <c:pt idx="1">
                    <c:v>Facebook</c:v>
                  </c:pt>
                  <c:pt idx="2">
                    <c:v>TikTok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37967.04</c:v>
                </c:pt>
                <c:pt idx="1">
                  <c:v>35636.89</c:v>
                </c:pt>
                <c:pt idx="2">
                  <c:v>23664.39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B2A36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B2A3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554480"/>
            <a:ext cx="80467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43200"/>
            <a:ext cx="804672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804672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Calendly Marketing Insights, Data Engineering Project 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55448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Calendly Marketing Insights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43200"/>
            <a:ext cx="8046720" cy="12801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Booking events joined with marketing spend on Delta Lake, Azure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Data Engineering Project 6 · Krishna C. Mukherjee · October 2026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What each booked call costs, by channel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2560320" cy="3017520"/>
          </a:xfrm>
          <a:prstGeom prst="roundRect">
            <a:avLst>
              <a:gd name="adj" fmla="val 28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5087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Inputs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874520"/>
            <a:ext cx="21945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Calendly webhooks for three paid campaigns (Facebook, YouTube, TikTok)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Daily spend file per channel, published Day-1 at 06:00 AM Eastern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291840" y="1371600"/>
            <a:ext cx="2560320" cy="3017520"/>
          </a:xfrm>
          <a:prstGeom prst="roundRect">
            <a:avLst>
              <a:gd name="adj" fmla="val 28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474720" y="15087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Pipeline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3474720" y="1874520"/>
            <a:ext cx="21945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Lambda architecture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Delta Lake, Bronze / Silver / Gold on ADLS Gen2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Azure Databricks, hourly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035040" y="1371600"/>
            <a:ext cx="2560320" cy="3017520"/>
          </a:xfrm>
          <a:prstGeom prst="roundRect">
            <a:avLst>
              <a:gd name="adj" fmla="val 28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17920" y="15087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Outputs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217920" y="1874520"/>
            <a:ext cx="21945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Six metrics on a Streamlit dashboard: calls by source, cost per booking, trend, attribution, time slots, meeting load per employee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Architecture on Azure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1463040" cy="822960"/>
          </a:xfrm>
          <a:prstGeom prst="roundRect">
            <a:avLst>
              <a:gd name="adj" fmla="val 8889"/>
            </a:avLst>
          </a:prstGeom>
          <a:solidFill>
            <a:srgbClr val="9FB8C4"/>
          </a:solidFill>
          <a:ln w="12700">
            <a:solidFill>
              <a:srgbClr val="9FB8C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463040"/>
            <a:ext cx="146304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A36"/>
                </a:solidFill>
              </a:rPr>
              <a:t>Calendly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B2A36"/>
                </a:solidFill>
              </a:rPr>
              <a:t>webhook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3108960"/>
            <a:ext cx="1463040" cy="822960"/>
          </a:xfrm>
          <a:prstGeom prst="roundRect">
            <a:avLst>
              <a:gd name="adj" fmla="val 8889"/>
            </a:avLst>
          </a:prstGeom>
          <a:solidFill>
            <a:srgbClr val="9FB8C4"/>
          </a:solidFill>
          <a:ln w="12700">
            <a:solidFill>
              <a:srgbClr val="9FB8C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3108960"/>
            <a:ext cx="146304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A36"/>
                </a:solidFill>
              </a:rPr>
              <a:t>Spend files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B2A36"/>
                </a:solidFill>
              </a:rPr>
              <a:t>(public S3)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103120" y="1764792"/>
            <a:ext cx="365760" cy="228600"/>
          </a:xfrm>
          <a:prstGeom prst="rightArrow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103120" y="3410712"/>
            <a:ext cx="365760" cy="228600"/>
          </a:xfrm>
          <a:prstGeom prst="rightArrow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560320" y="1463040"/>
            <a:ext cx="1554480" cy="822960"/>
          </a:xfrm>
          <a:prstGeom prst="roundRect">
            <a:avLst>
              <a:gd name="adj" fmla="val 8889"/>
            </a:avLst>
          </a:prstGeom>
          <a:solidFill>
            <a:srgbClr val="0E5E6F"/>
          </a:solidFill>
          <a:ln w="12700">
            <a:solidFill>
              <a:srgbClr val="0E5E6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560320" y="1463040"/>
            <a:ext cx="155448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fn_calendly_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receiver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560320" y="3108960"/>
            <a:ext cx="1554480" cy="822960"/>
          </a:xfrm>
          <a:prstGeom prst="roundRect">
            <a:avLst>
              <a:gd name="adj" fmla="val 8889"/>
            </a:avLst>
          </a:prstGeom>
          <a:solidFill>
            <a:srgbClr val="0E5E6F"/>
          </a:solidFill>
          <a:ln w="12700">
            <a:solidFill>
              <a:srgbClr val="0E5E6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560320" y="3108960"/>
            <a:ext cx="155448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fn_spend_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fetcher (timer)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206240" y="1764792"/>
            <a:ext cx="365760" cy="228600"/>
          </a:xfrm>
          <a:prstGeom prst="rightArrow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206240" y="3410712"/>
            <a:ext cx="365760" cy="228600"/>
          </a:xfrm>
          <a:prstGeom prst="rightArrow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663440" y="1463040"/>
            <a:ext cx="1280160" cy="2468880"/>
          </a:xfrm>
          <a:prstGeom prst="roundRect">
            <a:avLst>
              <a:gd name="adj" fmla="val 5714"/>
            </a:avLst>
          </a:prstGeom>
          <a:solidFill>
            <a:srgbClr val="3BA99C"/>
          </a:solidFill>
          <a:ln w="12700">
            <a:solidFill>
              <a:srgbClr val="3BA99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663440" y="1463040"/>
            <a:ext cx="1280160" cy="2468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Bronze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landing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(ADLS Gen2)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035040" y="2587752"/>
            <a:ext cx="365760" cy="228600"/>
          </a:xfrm>
          <a:prstGeom prst="rightArrow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492240" y="1463040"/>
            <a:ext cx="2103120" cy="1097280"/>
          </a:xfrm>
          <a:prstGeom prst="roundRect">
            <a:avLst>
              <a:gd name="adj" fmla="val 6667"/>
            </a:avLst>
          </a:prstGeom>
          <a:solidFill>
            <a:srgbClr val="0E5E6F"/>
          </a:solidFill>
          <a:ln w="12700">
            <a:solidFill>
              <a:srgbClr val="0E5E6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92240" y="1463040"/>
            <a:ext cx="2103120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Databricks job, hourly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Bronze → Silver → Gold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(Delta, Unity Catalog)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406640" y="2651760"/>
            <a:ext cx="274320" cy="365760"/>
          </a:xfrm>
          <a:prstGeom prst="downArrow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492240" y="3108960"/>
            <a:ext cx="2103120" cy="822960"/>
          </a:xfrm>
          <a:prstGeom prst="roundRect">
            <a:avLst>
              <a:gd name="adj" fmla="val 8889"/>
            </a:avLst>
          </a:prstGeom>
          <a:solidFill>
            <a:srgbClr val="9FB8C4"/>
          </a:solidFill>
          <a:ln w="12700">
            <a:solidFill>
              <a:srgbClr val="9FB8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92240" y="3108960"/>
            <a:ext cx="210312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A36"/>
                </a:solidFill>
              </a:rPr>
              <a:t>Streamlit dashboard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B2A36"/>
                </a:solidFill>
              </a:rPr>
              <a:t>(Gold CSV export)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41148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Speed layer: webhook to Bronze in seconds, Silver within the hour.  Batch layer: spend landed after 06:00 AM Eastern, Gold rebuilt hourly.  Serving layer: Gold tables.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Three Delta layers, rebuilt in full every hour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2560320" cy="3017520"/>
          </a:xfrm>
          <a:prstGeom prst="roundRect">
            <a:avLst>
              <a:gd name="adj" fmla="val 28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5087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Bronze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874520"/>
            <a:ext cx="21945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Raw JSON as landed: calendly_events, spend_files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Retained permanently; spend files leave the public index after 30 days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291840" y="1371600"/>
            <a:ext cx="2560320" cy="3017520"/>
          </a:xfrm>
          <a:prstGeom prst="roundRect">
            <a:avLst>
              <a:gd name="adj" fmla="val 28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474720" y="15087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Silver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3474720" y="1874520"/>
            <a:ext cx="21945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bookings, meetings, spend, channel_map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Latest delivery wins; cancellations applied; channel from event type; Eastern time; no personal data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035040" y="1371600"/>
            <a:ext cx="2560320" cy="3017520"/>
          </a:xfrm>
          <a:prstGeom prst="roundRect">
            <a:avLst>
              <a:gd name="adj" fmla="val 28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17920" y="15087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Gold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217920" y="1874520"/>
            <a:ext cx="21945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Six metric tables plus pipeline_runs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CPB null when no bookings; reconciliation check fails the run on mismatch; CSV export for the dashboard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Why this stack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53312"/>
            <a:ext cx="292608" cy="292608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3533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005840" y="128016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Azure Functions.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Serverless HTTPS endpoint and timer in one project; scales to zero; managed identity, no keys in code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920240"/>
            <a:ext cx="292608" cy="292608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9202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1847088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ADLS Gen2 + Delta Lake.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ACID writes, native Databricks format; required Bronze/Silver/Gold layering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2487168"/>
            <a:ext cx="292608" cy="292608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871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1005840" y="2414016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Azure Databricks.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Direct equivalent of the brief's reference design; Workflows for schedule, retries, alerts; new tool for this portfolio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054096"/>
            <a:ext cx="292608" cy="292608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540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4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005840" y="2980944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Full rebuild per run.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Two minutes at this volume; idempotent; a reload is a rerun; no checkpoints or MERGE logic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3621024"/>
            <a:ext cx="292608" cy="292608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62102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5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1005840" y="3547872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Key Vault, App Insights, Monitor.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Signing key outside code; traces per request; alert on 5xx; e-mail on failed job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48640" y="4187952"/>
            <a:ext cx="292608" cy="292608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879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6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1005840" y="411480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GitHub Actions, Streamlit.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Required by the brief; green build deploys function, notebooks, and job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Live since 28 October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187452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463040"/>
            <a:ext cx="1874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tx2"/>
                </a:solidFill>
              </a:rPr>
              <a:t>31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286000"/>
            <a:ext cx="1874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spend files ingested,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no manual steps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606040" y="1371600"/>
            <a:ext cx="187452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606040" y="1463040"/>
            <a:ext cx="1874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tx2"/>
                </a:solidFill>
              </a:rPr>
              <a:t>$97,268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2606040" y="2286000"/>
            <a:ext cx="1874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spend loaded,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29 Aug to 27 Oct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663440" y="1371600"/>
            <a:ext cx="187452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63440" y="1463040"/>
            <a:ext cx="1874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tx2"/>
                </a:solidFill>
              </a:rPr>
              <a:t>2 min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4663440" y="2286000"/>
            <a:ext cx="1874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hourly job,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all three layers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720840" y="1371600"/>
            <a:ext cx="187452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720840" y="1463040"/>
            <a:ext cx="1874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tx2"/>
                </a:solidFill>
              </a:rPr>
              <a:t>7 / 7</a:t>
            </a:r>
            <a:endParaRPr lang="en-US" sz="4000" dirty="0"/>
          </a:p>
        </p:txBody>
      </p:sp>
      <p:sp>
        <p:nvSpPr>
          <p:cNvPr id="14" name="Text 12"/>
          <p:cNvSpPr txBox="1"/>
          <p:nvPr/>
        </p:nvSpPr>
        <p:spPr>
          <a:xfrm>
            <a:off x="6720840" y="2286000"/>
            <a:ext cx="1874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green deployments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via GitHub Actions</a:t>
            </a:r>
            <a:endParaRPr lang="en-US" sz="12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48640" y="3291840"/>
          <a:ext cx="8046720" cy="1371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Operations and security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393192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50876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Scheduling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87452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Spend fetch every 30 minutes, 06:15 to 12:45 Eastern; Databricks job hourly with two retries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663440" y="1371600"/>
            <a:ext cx="393192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46320" y="150876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Monitoring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4846320" y="187452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Application Insights traces; Azure Monitor alert on HTTP 5xx; e-mail on any failed job run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3017520"/>
            <a:ext cx="393192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31546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Security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352044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Function key plus Calendly HMAC signature; managed identity to storage; Key Vault for the signing key; personal data stays in Bronze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663440" y="3017520"/>
            <a:ext cx="393192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46320" y="31546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CI/CD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352044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ruff and pytest (46 tests) on every push; green build deploys the Function App, notebooks, and job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55448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Validation window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43200"/>
            <a:ext cx="8046720" cy="12801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Endpoint shared with the program on 27 October; awaiting the webhook subscription and signing key. Then: enable signature verification, remove test events, confirm live bookings flow to Silver within the hour, and report CPB by channel.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alendly Insights">
  <a:themeElements>
    <a:clrScheme name="Calendly Insights">
      <a:dk1>
        <a:srgbClr val="1B2A36"/>
      </a:dk1>
      <a:lt1>
        <a:srgbClr val="FFFFFF"/>
      </a:lt1>
      <a:dk2>
        <a:srgbClr val="0E5E6F"/>
      </a:dk2>
      <a:lt2>
        <a:srgbClr val="EAF3F4"/>
      </a:lt2>
      <a:accent1>
        <a:srgbClr val="0E5E6F"/>
      </a:accent1>
      <a:accent2>
        <a:srgbClr val="F28C28"/>
      </a:accent2>
      <a:accent3>
        <a:srgbClr val="3BA99C"/>
      </a:accent3>
      <a:accent4>
        <a:srgbClr val="6C7A89"/>
      </a:accent4>
      <a:accent5>
        <a:srgbClr val="B85042"/>
      </a:accent5>
      <a:accent6>
        <a:srgbClr val="9FB8C4"/>
      </a:accent6>
      <a:hlink>
        <a:srgbClr val="0E5E6F"/>
      </a:hlink>
      <a:folHlink>
        <a:srgbClr val="6C7A89"/>
      </a:folHlink>
    </a:clrScheme>
    <a:fontScheme name="Calendly Insights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Calendly Marketing Insights</dc:title>
  <dc:subject>PptxGenJS Presentation</dc:subject>
  <dc:creator>Krishna C. Mukherjee</dc:creator>
  <cp:lastModifiedBy>Krishna C. Mukherjee</cp:lastModifiedBy>
  <cp:revision>1</cp:revision>
  <dcterms:created xsi:type="dcterms:W3CDTF">2026-10-29T23:17:03Z</dcterms:created>
  <dcterms:modified xsi:type="dcterms:W3CDTF">2026-10-29T23:17:03Z</dcterms:modified>
</cp:coreProperties>
</file>